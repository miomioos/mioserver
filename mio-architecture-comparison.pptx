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80960"/>
            <a:ext cx="9144000" cy="91440"/>
          </a:xfrm>
          <a:prstGeom prst="rect">
            <a:avLst/>
          </a:prstGeom>
          <a:solidFill>
            <a:srgbClr val="C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"/>
            <a:ext cx="109728" cy="7589520"/>
          </a:xfrm>
          <a:prstGeom prst="rect">
            <a:avLst/>
          </a:prstGeom>
          <a:solidFill>
            <a:srgbClr val="C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MioIsland × MioServer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822960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CAFF00"/>
                </a:solidFill>
              </a:rPr>
              <a:t>框架与链路对比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82296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99999"/>
                </a:solidFill>
              </a:rPr>
              <a:t>Architecture &amp; Data Flow Comparison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4572000" cy="27432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7772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›  CodeIsland / MioIsland / CodeLight 三者关系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77056"/>
            <a:ext cx="7772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›  4 种部署架构详解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79392"/>
            <a:ext cx="7772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›  数据流向与 session 生命周期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81728"/>
            <a:ext cx="7772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›  Hook → mio-server 接入方案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84064"/>
            <a:ext cx="7772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›  iPhone 配对与消息推送链路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06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</a:rPr>
              <a:t>2026-04-30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82296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01  三组件定位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8595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99999"/>
                </a:solidFill>
              </a:rPr>
              <a:t>CodeIsland · MioIsland · CodeLight — 各司其职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34440"/>
            <a:ext cx="2743200" cy="4754880"/>
          </a:xfrm>
          <a:prstGeom prst="roundRect">
            <a:avLst/>
          </a:prstGeom>
          <a:solidFill>
            <a:srgbClr val="2D2D2D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2743200" cy="640080"/>
          </a:xfrm>
          <a:prstGeom prst="rect">
            <a:avLst/>
          </a:prstGeom>
          <a:solidFill>
            <a:srgbClr val="C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1A"/>
                </a:solidFill>
              </a:rPr>
              <a:t>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CodeIsland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128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</a:rPr>
              <a:t>Mac notch 桌面应用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542032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</a:rPr>
              <a:t>• SSH relay 远程 CC</a:t>
            </a:r>
          </a:p>
          <a:p>
            <a:pPr algn="l"/>
            <a:r>
              <a:rPr sz="1000">
                <a:solidFill>
                  <a:srgbClr val="999999"/>
                </a:solidFill>
              </a:rPr>
              <a:t>• 本地 session 读取</a:t>
            </a:r>
          </a:p>
          <a:p>
            <a:pPr algn="l"/>
            <a:r>
              <a:rPr sz="1000">
                <a:solidFill>
                  <a:srgbClr val="999999"/>
                </a:solidFill>
              </a:rPr>
              <a:t>• tmux 进程管理</a:t>
            </a:r>
          </a:p>
          <a:p>
            <a:pPr algn="l"/>
            <a:r>
              <a:rPr sz="1000">
                <a:solidFill>
                  <a:srgbClr val="999999"/>
                </a:solidFill>
              </a:rPr>
              <a:t>• Notch UI 显示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234440"/>
            <a:ext cx="2743200" cy="4754880"/>
          </a:xfrm>
          <a:prstGeom prst="roundRect">
            <a:avLst/>
          </a:prstGeom>
          <a:solidFill>
            <a:srgbClr val="203020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234440"/>
            <a:ext cx="2743200" cy="640080"/>
          </a:xfrm>
          <a:prstGeom prst="rect">
            <a:avLst/>
          </a:prstGeom>
          <a:solidFill>
            <a:srgbClr val="C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126187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1A"/>
                </a:solidFill>
              </a:rPr>
              <a:t>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1920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MioIsland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2128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</a:rPr>
              <a:t>iPhone 控制端（经典）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2542032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</a:rPr>
              <a:t>• SSH 连接 Mac</a:t>
            </a:r>
          </a:p>
          <a:p>
            <a:pPr algn="l"/>
            <a:r>
              <a:rPr sz="1000">
                <a:solidFill>
                  <a:srgbClr val="999999"/>
                </a:solidFill>
              </a:rPr>
              <a:t>• 远程控制 CC</a:t>
            </a:r>
          </a:p>
          <a:p>
            <a:pPr algn="l"/>
            <a:r>
              <a:rPr sz="1000">
                <a:solidFill>
                  <a:srgbClr val="999999"/>
                </a:solidFill>
              </a:rPr>
              <a:t>• 接收推送通知</a:t>
            </a:r>
          </a:p>
          <a:p>
            <a:pPr algn="l"/>
            <a:r>
              <a:rPr sz="1000">
                <a:solidFill>
                  <a:srgbClr val="999999"/>
                </a:solidFill>
              </a:rPr>
              <a:t>• Launch Preset 管理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234440"/>
            <a:ext cx="2743200" cy="4754880"/>
          </a:xfrm>
          <a:prstGeom prst="roundRect">
            <a:avLst/>
          </a:prstGeom>
          <a:solidFill>
            <a:srgbClr val="151530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234440"/>
            <a:ext cx="2743200" cy="640080"/>
          </a:xfrm>
          <a:prstGeom prst="rect">
            <a:avLst/>
          </a:prstGeom>
          <a:solidFill>
            <a:srgbClr val="C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26187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1A"/>
                </a:solidFill>
              </a:rPr>
              <a:t>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920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CodeLight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2128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</a:rPr>
              <a:t>iPhone 控制端（新）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2542032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</a:rPr>
              <a:t>• 直连 mio-server</a:t>
            </a:r>
          </a:p>
          <a:p>
            <a:pPr algn="l"/>
            <a:r>
              <a:rPr sz="1000">
                <a:solidFill>
                  <a:srgbClr val="999999"/>
                </a:solidFill>
              </a:rPr>
              <a:t>• 扫码 / shortCode 配对</a:t>
            </a:r>
          </a:p>
          <a:p>
            <a:pPr algn="l"/>
            <a:r>
              <a:rPr sz="1000">
                <a:solidFill>
                  <a:srgbClr val="999999"/>
                </a:solidFill>
              </a:rPr>
              <a:t>• 接收 APNs 通知</a:t>
            </a:r>
          </a:p>
          <a:p>
            <a:pPr algn="l"/>
            <a:r>
              <a:rPr sz="1000">
                <a:solidFill>
                  <a:srgbClr val="999999"/>
                </a:solidFill>
              </a:rPr>
              <a:t>• 不需要 Mac 在线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172200"/>
            <a:ext cx="8412480" cy="27432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26364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FF00"/>
                </a:solidFill>
              </a:rPr>
              <a:t>关键区别：CodeLight 不走 SSH 直连 Mac，而是通过 mio-server 作为消息中继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82296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02  现有架构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8595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99999"/>
                </a:solidFill>
              </a:rPr>
              <a:t>CC 运行在本地 Mac，通过 hook socket 与 notch 联动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64592" cy="128016"/>
          </a:xfrm>
          <a:prstGeom prst="rect">
            <a:avLst/>
          </a:prstGeom>
          <a:solidFill>
            <a:srgbClr val="C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实时数据流（Socket.io）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53312"/>
            <a:ext cx="164592" cy="128016"/>
          </a:xfrm>
          <a:prstGeom prst="rect">
            <a:avLst/>
          </a:prstGeom>
          <a:solidFill>
            <a:srgbClr val="4A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3167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消息轮询（HTTP）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09344"/>
            <a:ext cx="164592" cy="128016"/>
          </a:xfrm>
          <a:prstGeom prst="rect">
            <a:avLst/>
          </a:prstGeom>
          <a:solidFill>
            <a:srgbClr val="F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5727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SSH 隧道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65376"/>
            <a:ext cx="164592" cy="128016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82880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间接关联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" y="2971800"/>
            <a:ext cx="1371600" cy="640080"/>
          </a:xfrm>
          <a:prstGeom prst="roundRect">
            <a:avLst/>
          </a:prstGeom>
          <a:solidFill>
            <a:srgbClr val="151530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" y="301752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iPhone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" y="326440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CodeLight 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2971800"/>
            <a:ext cx="1645920" cy="640080"/>
          </a:xfrm>
          <a:prstGeom prst="roundRect">
            <a:avLst/>
          </a:prstGeom>
          <a:solidFill>
            <a:srgbClr val="0A200A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5960" y="301752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AFF00"/>
                </a:solidFill>
              </a:rPr>
              <a:t>mio-server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2644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Railway · Socket.io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0" y="2971800"/>
            <a:ext cx="1463040" cy="640080"/>
          </a:xfrm>
          <a:prstGeom prst="roundRect">
            <a:avLst/>
          </a:prstGeom>
          <a:solidFill>
            <a:srgbClr val="2D2D2D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69080" y="301752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MioIsland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32644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Mac notch app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2971800"/>
            <a:ext cx="1463040" cy="640080"/>
          </a:xfrm>
          <a:prstGeom prst="roundRect">
            <a:avLst/>
          </a:prstGeom>
          <a:solidFill>
            <a:srgbClr val="200A0A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301752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4A4A"/>
                </a:solidFill>
              </a:rPr>
              <a:t>Claude 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2644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本地运行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4297680"/>
            <a:ext cx="1737360" cy="548640"/>
          </a:xfrm>
          <a:prstGeom prst="roundRect">
            <a:avLst/>
          </a:prstGeom>
          <a:solidFill>
            <a:srgbClr val="302010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0" y="4343400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A9DFF"/>
                </a:solidFill>
              </a:rPr>
              <a:t>Hook Socket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459028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127.0.0.1:9871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828800" y="3291840"/>
            <a:ext cx="0" cy="0"/>
          </a:xfrm>
          <a:prstGeom prst="line">
            <a:avLst/>
          </a:prstGeom>
          <a:ln w="19050">
            <a:solidFill>
              <a:srgbClr val="CA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11479" y="2962656"/>
            <a:ext cx="1737360" cy="256032"/>
          </a:xfrm>
          <a:prstGeom prst="roundRect">
            <a:avLst/>
          </a:prstGeom>
          <a:solidFill>
            <a:srgbClr val="102010"/>
          </a:solidFill>
          <a:ln>
            <a:solidFill>
              <a:srgbClr val="CA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79" y="296265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CAFF00"/>
                </a:solidFill>
              </a:rPr>
              <a:t>Socket.io /v1/updates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657600" y="3291840"/>
            <a:ext cx="182880" cy="0"/>
          </a:xfrm>
          <a:prstGeom prst="line">
            <a:avLst/>
          </a:prstGeom>
          <a:ln w="19050">
            <a:solidFill>
              <a:srgbClr val="CA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331720" y="2962656"/>
            <a:ext cx="1737360" cy="256032"/>
          </a:xfrm>
          <a:prstGeom prst="roundRect">
            <a:avLst/>
          </a:prstGeom>
          <a:solidFill>
            <a:srgbClr val="102010"/>
          </a:solidFill>
          <a:ln>
            <a:solidFill>
              <a:srgbClr val="CA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31720" y="296265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CAFF00"/>
                </a:solidFill>
              </a:rPr>
              <a:t>Socket.io /v1/updates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754880" y="3639312"/>
            <a:ext cx="0" cy="566928"/>
          </a:xfrm>
          <a:prstGeom prst="line">
            <a:avLst/>
          </a:prstGeom>
          <a:ln w="15240">
            <a:solidFill>
              <a:srgbClr val="4A9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361688" y="3803904"/>
            <a:ext cx="1005840" cy="256032"/>
          </a:xfrm>
          <a:prstGeom prst="roundRect">
            <a:avLst/>
          </a:prstGeom>
          <a:solidFill>
            <a:srgbClr val="101020"/>
          </a:solidFill>
          <a:ln>
            <a:solidFill>
              <a:srgbClr val="4A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61688" y="38039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4A9DFF"/>
                </a:solidFill>
              </a:rPr>
              <a:t>hook socket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5669280" y="3291840"/>
            <a:ext cx="182880" cy="1280160"/>
          </a:xfrm>
          <a:prstGeom prst="line">
            <a:avLst/>
          </a:prstGeom>
          <a:ln w="127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365760" y="5486400"/>
            <a:ext cx="8412480" cy="1691640"/>
          </a:xfrm>
          <a:prstGeom prst="rect">
            <a:avLst/>
          </a:prstGeom>
          <a:solidFill>
            <a:srgbClr val="0D0D0D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559552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AFF00"/>
                </a:solidFill>
              </a:rPr>
              <a:t>数据流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779008"/>
            <a:ext cx="2743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AFF00"/>
                </a:solidFill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77900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</a:rPr>
              <a:t>iPhone 扫码配对 → mio-server 建立 DeviceLink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089904"/>
            <a:ext cx="2743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AFF00"/>
                </a:solidFill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6089904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</a:rPr>
              <a:t>CC hook 写入 JSONL → MioIsland 读取并通过 Socket.io 发送到 mio-server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00800"/>
            <a:ext cx="2743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AFF00"/>
                </a:solidFill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6400800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</a:rPr>
              <a:t>mio-server 存储 session 消息 → iPhone 轮询 /v1/sessions 获取更新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711696"/>
            <a:ext cx="2743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AFF00"/>
                </a:solidFill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6711696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</a:rPr>
              <a:t>iPhone 也可以发消息 → mio-server → MioIsland → 本地 CC 终端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82296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03  架构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8595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99999"/>
                </a:solidFill>
              </a:rPr>
              <a:t>CC 运行在远程服务器，hook 直连 mio-server · 不需要 Mac 在线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" y="2331720"/>
            <a:ext cx="1371600" cy="640080"/>
          </a:xfrm>
          <a:prstGeom prst="roundRect">
            <a:avLst/>
          </a:prstGeom>
          <a:solidFill>
            <a:srgbClr val="151530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" y="2377439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iPhone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26243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CodeLight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37360" y="2331720"/>
            <a:ext cx="1828800" cy="640080"/>
          </a:xfrm>
          <a:prstGeom prst="roundRect">
            <a:avLst/>
          </a:prstGeom>
          <a:solidFill>
            <a:srgbClr val="0A200A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2377439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AFF00"/>
                </a:solidFill>
              </a:rPr>
              <a:t>mio-server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62432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Railway · 已部署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331720"/>
            <a:ext cx="1371600" cy="640080"/>
          </a:xfrm>
          <a:prstGeom prst="roundRect">
            <a:avLst/>
          </a:prstGeom>
          <a:solidFill>
            <a:srgbClr val="200A0A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377439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4A4A"/>
                </a:solidFill>
              </a:rPr>
              <a:t>Claude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6243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远程服务器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2331720"/>
            <a:ext cx="1645920" cy="640080"/>
          </a:xfrm>
          <a:prstGeom prst="roundRect">
            <a:avLst/>
          </a:prstGeom>
          <a:solidFill>
            <a:srgbClr val="101020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79" y="2377439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A9DFF"/>
                </a:solidFill>
              </a:rPr>
              <a:t>Hook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79" y="2624327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hook socket → mio-server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3634740"/>
            <a:ext cx="1737360" cy="502920"/>
          </a:xfrm>
          <a:prstGeom prst="roundRect">
            <a:avLst/>
          </a:prstGeom>
          <a:solidFill>
            <a:srgbClr val="302010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3680460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A9DFF"/>
                </a:solidFill>
              </a:rPr>
              <a:t>Hook Socket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92734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127.0.0.1:port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444752" y="2651760"/>
            <a:ext cx="201167" cy="0"/>
          </a:xfrm>
          <a:prstGeom prst="line">
            <a:avLst/>
          </a:prstGeom>
          <a:ln w="19050">
            <a:solidFill>
              <a:srgbClr val="CA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" y="2322575"/>
            <a:ext cx="1828800" cy="256032"/>
          </a:xfrm>
          <a:prstGeom prst="roundRect">
            <a:avLst/>
          </a:prstGeom>
          <a:solidFill>
            <a:srgbClr val="102010"/>
          </a:solidFill>
          <a:ln>
            <a:solidFill>
              <a:srgbClr val="CA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322575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CAFF00"/>
                </a:solidFill>
              </a:rPr>
              <a:t>Socket.io /v1/updates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657600" y="2651760"/>
            <a:ext cx="594360" cy="0"/>
          </a:xfrm>
          <a:prstGeom prst="line">
            <a:avLst/>
          </a:prstGeom>
          <a:ln w="19050">
            <a:solidFill>
              <a:srgbClr val="CA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926080" y="2322575"/>
            <a:ext cx="1828800" cy="256032"/>
          </a:xfrm>
          <a:prstGeom prst="roundRect">
            <a:avLst/>
          </a:prstGeom>
          <a:solidFill>
            <a:srgbClr val="102010"/>
          </a:solidFill>
          <a:ln>
            <a:solidFill>
              <a:srgbClr val="CA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0" y="2322575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CAFF00"/>
                </a:solidFill>
              </a:rPr>
              <a:t>Socket.io /v1/updates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0" y="2999232"/>
            <a:ext cx="0" cy="566928"/>
          </a:xfrm>
          <a:prstGeom prst="line">
            <a:avLst/>
          </a:prstGeom>
          <a:ln w="127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65760" y="4663440"/>
            <a:ext cx="8412480" cy="2606040"/>
          </a:xfrm>
          <a:prstGeom prst="rect">
            <a:avLst/>
          </a:prstGeom>
          <a:solidFill>
            <a:srgbClr val="0D0D0D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754880"/>
            <a:ext cx="2743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4A4A"/>
                </a:solidFill>
              </a:rPr>
              <a:t>⚠  核心挑战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010912"/>
            <a:ext cx="2286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AFF00"/>
                </a:solidFill>
              </a:rPr>
              <a:t>› DeviceId 问题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230368"/>
            <a:ext cx="80467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999999"/>
                </a:solidFill>
              </a:rPr>
              <a:t>session 归属哪个 deviceId？mio-server 的 session API 绑定 Mac deviceId。Server CC 需要冒充 Mac deviceId 或新建独立 session 体系。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724144"/>
            <a:ext cx="2286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AFF00"/>
                </a:solidFill>
              </a:rPr>
              <a:t>› HTTP API 替代 Socket.io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943600"/>
            <a:ext cx="80467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999999"/>
                </a:solidFill>
              </a:rPr>
              <a:t>hook 不支持 WebSocket，可以直接 POST /v1/sessions/:id/messages。需要 hook socket 改为 HTTP 客户端。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37376"/>
            <a:ext cx="2286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AFF00"/>
                </a:solidFill>
              </a:rPr>
              <a:t>› 无 Mac 时 deviceLink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656831"/>
            <a:ext cx="80467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999999"/>
                </a:solidFill>
              </a:rPr>
              <a:t>iPhone 配对的是 Mac shortCode。Server CC 模式需要建立新的配对机制。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82296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04  架构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8595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99999"/>
                </a:solidFill>
              </a:rPr>
              <a:t>SSH relay 模式 · Mac notch 作为 SSH client · 远程 CC session 映射到 notch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057400"/>
            <a:ext cx="1280160" cy="640080"/>
          </a:xfrm>
          <a:prstGeom prst="roundRect">
            <a:avLst/>
          </a:prstGeom>
          <a:solidFill>
            <a:srgbClr val="151530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103120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iPhone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350008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CodeLight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057400"/>
            <a:ext cx="1645920" cy="640080"/>
          </a:xfrm>
          <a:prstGeom prst="roundRect">
            <a:avLst/>
          </a:prstGeom>
          <a:solidFill>
            <a:srgbClr val="0A200A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79" y="210312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AFF00"/>
                </a:solidFill>
              </a:rPr>
              <a:t>mio-server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79" y="23500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Railway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2057400"/>
            <a:ext cx="1371600" cy="640080"/>
          </a:xfrm>
          <a:prstGeom prst="roundRect">
            <a:avLst/>
          </a:prstGeom>
          <a:solidFill>
            <a:srgbClr val="2D2D2D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210312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Mac Notch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35000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MioIsland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251960"/>
            <a:ext cx="1645920" cy="640080"/>
          </a:xfrm>
          <a:prstGeom prst="roundRect">
            <a:avLst/>
          </a:prstGeom>
          <a:solidFill>
            <a:srgbClr val="302010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79" y="429768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A9DFF"/>
                </a:solidFill>
              </a:rPr>
              <a:t>SSH Relay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79" y="45445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127.0.0.1:9871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40680" y="4251960"/>
            <a:ext cx="1554480" cy="640080"/>
          </a:xfrm>
          <a:prstGeom prst="roundRect">
            <a:avLst/>
          </a:prstGeom>
          <a:solidFill>
            <a:srgbClr val="200A0A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4297680"/>
            <a:ext cx="1463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4A4A"/>
                </a:solidFill>
              </a:rPr>
              <a:t>CC (Remote)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544568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SSH 远程机器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81912" y="2377440"/>
            <a:ext cx="978408" cy="0"/>
          </a:xfrm>
          <a:prstGeom prst="line">
            <a:avLst/>
          </a:prstGeom>
          <a:ln w="19050">
            <a:solidFill>
              <a:srgbClr val="CA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645919" y="2048255"/>
            <a:ext cx="1097280" cy="256032"/>
          </a:xfrm>
          <a:prstGeom prst="roundRect">
            <a:avLst/>
          </a:prstGeom>
          <a:solidFill>
            <a:srgbClr val="102010"/>
          </a:solidFill>
          <a:ln>
            <a:solidFill>
              <a:srgbClr val="CA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19" y="2048255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CAFF00"/>
                </a:solidFill>
              </a:rPr>
              <a:t>Socket.io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389120" y="2377440"/>
            <a:ext cx="1051560" cy="0"/>
          </a:xfrm>
          <a:prstGeom prst="line">
            <a:avLst/>
          </a:prstGeom>
          <a:ln w="19050">
            <a:solidFill>
              <a:srgbClr val="CA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297680" y="2048255"/>
            <a:ext cx="1097280" cy="256032"/>
          </a:xfrm>
          <a:prstGeom prst="roundRect">
            <a:avLst/>
          </a:prstGeom>
          <a:solidFill>
            <a:srgbClr val="102010"/>
          </a:solidFill>
          <a:ln>
            <a:solidFill>
              <a:srgbClr val="CA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2048255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CAFF00"/>
                </a:solidFill>
              </a:rPr>
              <a:t>Socket.io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217920" y="2029968"/>
            <a:ext cx="0" cy="2889504"/>
          </a:xfrm>
          <a:prstGeom prst="line">
            <a:avLst/>
          </a:prstGeom>
          <a:ln w="15240">
            <a:solidFill>
              <a:srgbClr val="FF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852159" y="3346703"/>
            <a:ext cx="914400" cy="256032"/>
          </a:xfrm>
          <a:prstGeom prst="roundRect">
            <a:avLst/>
          </a:prstGeom>
          <a:solidFill>
            <a:srgbClr val="201010"/>
          </a:solidFill>
          <a:ln>
            <a:solidFill>
              <a:srgbClr val="FF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59" y="3346703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4A4A"/>
                </a:solidFill>
              </a:rPr>
              <a:t>SSH tunnel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389120" y="4572000"/>
            <a:ext cx="1024128" cy="0"/>
          </a:xfrm>
          <a:prstGeom prst="line">
            <a:avLst/>
          </a:prstGeom>
          <a:ln w="127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114800" y="4242816"/>
            <a:ext cx="1463040" cy="256032"/>
          </a:xfrm>
          <a:prstGeom prst="roundRect">
            <a:avLst/>
          </a:prstGeom>
          <a:solidFill>
            <a:srgbClr val="151515"/>
          </a:solidFill>
          <a:ln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0" y="424281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999999"/>
                </a:solidFill>
              </a:rPr>
              <a:t>local 127.0.0.1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217920" y="4919472"/>
            <a:ext cx="0" cy="475488"/>
          </a:xfrm>
          <a:prstGeom prst="line">
            <a:avLst/>
          </a:prstGeom>
          <a:ln w="12700">
            <a:solidFill>
              <a:srgbClr val="4A9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806440" y="5038344"/>
            <a:ext cx="1005840" cy="256032"/>
          </a:xfrm>
          <a:prstGeom prst="roundRect">
            <a:avLst/>
          </a:prstGeom>
          <a:solidFill>
            <a:srgbClr val="101020"/>
          </a:solidFill>
          <a:ln>
            <a:solidFill>
              <a:srgbClr val="4A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06440" y="503834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4A9DFF"/>
                </a:solidFill>
              </a:rPr>
              <a:t>hook socket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6035040"/>
            <a:ext cx="8412480" cy="1280160"/>
          </a:xfrm>
          <a:prstGeom prst="rect">
            <a:avLst/>
          </a:prstGeom>
          <a:solidFill>
            <a:srgbClr val="0D0D0D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10819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AFF00"/>
                </a:solidFill>
              </a:rPr>
              <a:t>工作原理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291072"/>
            <a:ext cx="80467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999999"/>
                </a:solidFill>
              </a:rPr>
              <a:t>› Mac notch 主动 SSH 到远程机器，建立 port forward：本地 9871 ↔ 远程 9871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547104"/>
            <a:ext cx="80467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999999"/>
                </a:solidFill>
              </a:rPr>
              <a:t>› 远程 CC 的 hook 连接到本地 127.0.0.1:9871，数据经 SSH 隧道传回 notch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803136"/>
            <a:ext cx="80467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999999"/>
                </a:solidFill>
              </a:rPr>
              <a:t>› notch 把 session 数据通过 Socket.io 转发给 mio-server，iPhone 正常轮询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7059168"/>
            <a:ext cx="80467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999999"/>
                </a:solidFill>
              </a:rPr>
              <a:t>› iPhone 发消息 → mio-server → notch → SSH tunnel → 远程 CC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82296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05  架构对比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8595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99999"/>
                </a:solidFill>
              </a:rPr>
              <a:t>4 种部署模式一览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43000"/>
            <a:ext cx="1554480" cy="594360"/>
          </a:xfrm>
          <a:prstGeom prst="roundRect">
            <a:avLst/>
          </a:prstGeom>
          <a:solidFill>
            <a:srgbClr val="CAFF00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197864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</a:rPr>
              <a:t>维度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143000"/>
            <a:ext cx="1554480" cy="594360"/>
          </a:xfrm>
          <a:prstGeom prst="roundRect">
            <a:avLst/>
          </a:prstGeom>
          <a:solidFill>
            <a:srgbClr val="181818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66544" y="1197864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现有架构
(本地CC)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1143000"/>
            <a:ext cx="1554480" cy="594360"/>
          </a:xfrm>
          <a:prstGeom prst="roundRect">
            <a:avLst/>
          </a:prstGeom>
          <a:solidFill>
            <a:srgbClr val="181818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03903" y="1197864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架构 A
(Server CC)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1143000"/>
            <a:ext cx="1554480" cy="594360"/>
          </a:xfrm>
          <a:prstGeom prst="roundRect">
            <a:avLst/>
          </a:prstGeom>
          <a:solidFill>
            <a:srgbClr val="181818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32703" y="1197864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架构 B
(SSH Relay)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143000"/>
            <a:ext cx="1554480" cy="594360"/>
          </a:xfrm>
          <a:prstGeom prst="roundRect">
            <a:avLst/>
          </a:prstGeom>
          <a:solidFill>
            <a:srgbClr val="181818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61504" y="1197864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架构 C
(Hybrid)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1737360"/>
            <a:ext cx="1554480" cy="594360"/>
          </a:xfrm>
          <a:prstGeom prst="roundRect">
            <a:avLst/>
          </a:prstGeom>
          <a:solidFill>
            <a:srgbClr val="2D2D2D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" y="1783080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AFF00"/>
                </a:solidFill>
              </a:rPr>
              <a:t>CC 运行环境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1737360"/>
            <a:ext cx="1554480" cy="594360"/>
          </a:xfrm>
          <a:prstGeom prst="roundRect">
            <a:avLst/>
          </a:prstGeom>
          <a:solidFill>
            <a:srgbClr val="0F0F0F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66544" y="1783080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本地 Mac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49039" y="1737360"/>
            <a:ext cx="1554480" cy="594360"/>
          </a:xfrm>
          <a:prstGeom prst="roundRect">
            <a:avLst/>
          </a:prstGeom>
          <a:solidFill>
            <a:srgbClr val="0F0F0F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03903" y="1783080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远程服务器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77840" y="1737360"/>
            <a:ext cx="1554480" cy="594360"/>
          </a:xfrm>
          <a:prstGeom prst="roundRect">
            <a:avLst/>
          </a:prstGeom>
          <a:solidFill>
            <a:srgbClr val="0F0F0F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32703" y="1783080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远程机器 SSH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1737360"/>
            <a:ext cx="1554480" cy="594360"/>
          </a:xfrm>
          <a:prstGeom prst="roundRect">
            <a:avLst/>
          </a:prstGeom>
          <a:solidFill>
            <a:srgbClr val="0F0F0F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61504" y="1783080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本地 + 远程混合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2331720"/>
            <a:ext cx="1554480" cy="594360"/>
          </a:xfrm>
          <a:prstGeom prst="roundRect">
            <a:avLst/>
          </a:prstGeom>
          <a:solidFill>
            <a:srgbClr val="2D2D2D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2377439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AFF00"/>
                </a:solidFill>
              </a:rPr>
              <a:t>Mac 在线？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11680" y="2331720"/>
            <a:ext cx="1554480" cy="594360"/>
          </a:xfrm>
          <a:prstGeom prst="roundRect">
            <a:avLst/>
          </a:prstGeom>
          <a:solidFill>
            <a:srgbClr val="141414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66544" y="2377439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AFF8A"/>
                </a:solidFill>
              </a:rPr>
              <a:t>✓ 必须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49039" y="2331720"/>
            <a:ext cx="1554480" cy="594360"/>
          </a:xfrm>
          <a:prstGeom prst="roundRect">
            <a:avLst/>
          </a:prstGeom>
          <a:solidFill>
            <a:srgbClr val="141414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03903" y="2377439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4A4A"/>
                </a:solidFill>
              </a:rPr>
              <a:t>✗ 不需要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7840" y="2331720"/>
            <a:ext cx="1554480" cy="594360"/>
          </a:xfrm>
          <a:prstGeom prst="roundRect">
            <a:avLst/>
          </a:prstGeom>
          <a:solidFill>
            <a:srgbClr val="141414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32703" y="2377439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AFF8A"/>
                </a:solidFill>
              </a:rPr>
              <a:t>✓ 必须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06640" y="2331720"/>
            <a:ext cx="1554480" cy="594360"/>
          </a:xfrm>
          <a:prstGeom prst="roundRect">
            <a:avLst/>
          </a:prstGeom>
          <a:solidFill>
            <a:srgbClr val="141414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61504" y="2377439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AFF8A"/>
                </a:solidFill>
              </a:rPr>
              <a:t>✓ 必须（notch桥接）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2926080"/>
            <a:ext cx="1554480" cy="594360"/>
          </a:xfrm>
          <a:prstGeom prst="roundRect">
            <a:avLst/>
          </a:prstGeom>
          <a:solidFill>
            <a:srgbClr val="2D2D2D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0624" y="2971800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AFF00"/>
                </a:solidFill>
              </a:rPr>
              <a:t>iPhone 连接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11680" y="2926080"/>
            <a:ext cx="1554480" cy="594360"/>
          </a:xfrm>
          <a:prstGeom prst="roundRect">
            <a:avLst/>
          </a:prstGeom>
          <a:solidFill>
            <a:srgbClr val="0F0F0F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66544" y="2971800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mio-server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749039" y="2926080"/>
            <a:ext cx="1554480" cy="594360"/>
          </a:xfrm>
          <a:prstGeom prst="roundRect">
            <a:avLst/>
          </a:prstGeom>
          <a:solidFill>
            <a:srgbClr val="0F0F0F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03903" y="2971800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mio-server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577840" y="2926080"/>
            <a:ext cx="1554480" cy="594360"/>
          </a:xfrm>
          <a:prstGeom prst="roundRect">
            <a:avLst/>
          </a:prstGeom>
          <a:solidFill>
            <a:srgbClr val="0F0F0F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32703" y="2971800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mio-server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06640" y="2926080"/>
            <a:ext cx="1554480" cy="594360"/>
          </a:xfrm>
          <a:prstGeom prst="roundRect">
            <a:avLst/>
          </a:prstGeom>
          <a:solidFill>
            <a:srgbClr val="0F0F0F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61504" y="2971800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mio-server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" y="3520440"/>
            <a:ext cx="1554480" cy="594360"/>
          </a:xfrm>
          <a:prstGeom prst="roundRect">
            <a:avLst/>
          </a:prstGeom>
          <a:solidFill>
            <a:srgbClr val="2D2D2D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" y="3566160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AFF00"/>
                </a:solidFill>
              </a:rPr>
              <a:t>Hook 目标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011680" y="3520440"/>
            <a:ext cx="1554480" cy="594360"/>
          </a:xfrm>
          <a:prstGeom prst="roundRect">
            <a:avLst/>
          </a:prstGeom>
          <a:solidFill>
            <a:srgbClr val="141414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66544" y="3566160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本地 127.0.0.1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749039" y="3520440"/>
            <a:ext cx="1554480" cy="594360"/>
          </a:xfrm>
          <a:prstGeom prst="roundRect">
            <a:avLst/>
          </a:prstGeom>
          <a:solidFill>
            <a:srgbClr val="141414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03903" y="3566160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mio-server HTTP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577840" y="3520440"/>
            <a:ext cx="1554480" cy="594360"/>
          </a:xfrm>
          <a:prstGeom prst="roundRect">
            <a:avLst/>
          </a:prstGeom>
          <a:solidFill>
            <a:srgbClr val="141414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32703" y="3566160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本地 127.0.0.1
(经SSH隧道)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406640" y="3520440"/>
            <a:ext cx="1554480" cy="594360"/>
          </a:xfrm>
          <a:prstGeom prst="roundRect">
            <a:avLst/>
          </a:prstGeom>
          <a:solidFill>
            <a:srgbClr val="141414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61504" y="3566160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本地 + mio-server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65760" y="4114800"/>
            <a:ext cx="1554480" cy="594360"/>
          </a:xfrm>
          <a:prstGeom prst="roundRect">
            <a:avLst/>
          </a:prstGeom>
          <a:solidFill>
            <a:srgbClr val="2D2D2D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0624" y="4160520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AFF00"/>
                </a:solidFill>
              </a:rPr>
              <a:t>DeviceId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011680" y="4114800"/>
            <a:ext cx="1554480" cy="594360"/>
          </a:xfrm>
          <a:prstGeom prst="roundRect">
            <a:avLst/>
          </a:prstGeom>
          <a:solidFill>
            <a:srgbClr val="0F0F0F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66544" y="4160520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Mac deviceId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749039" y="4114800"/>
            <a:ext cx="1554480" cy="594360"/>
          </a:xfrm>
          <a:prstGeom prst="roundRect">
            <a:avLst/>
          </a:prstGeom>
          <a:solidFill>
            <a:srgbClr val="0F0F0F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03903" y="4160520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需新建体系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577840" y="4114800"/>
            <a:ext cx="1554480" cy="594360"/>
          </a:xfrm>
          <a:prstGeom prst="roundRect">
            <a:avLst/>
          </a:prstGeom>
          <a:solidFill>
            <a:srgbClr val="0F0F0F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32703" y="4160520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Mac deviceId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406640" y="4114800"/>
            <a:ext cx="1554480" cy="594360"/>
          </a:xfrm>
          <a:prstGeom prst="roundRect">
            <a:avLst/>
          </a:prstGeom>
          <a:solidFill>
            <a:srgbClr val="0F0F0F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61504" y="4160520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Mac deviceId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65760" y="4709160"/>
            <a:ext cx="1554480" cy="594360"/>
          </a:xfrm>
          <a:prstGeom prst="roundRect">
            <a:avLst/>
          </a:prstGeom>
          <a:solidFill>
            <a:srgbClr val="2D2D2D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0624" y="4754880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AFF00"/>
                </a:solidFill>
              </a:rPr>
              <a:t>Session 存储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011680" y="4709160"/>
            <a:ext cx="1554480" cy="594360"/>
          </a:xfrm>
          <a:prstGeom prst="roundRect">
            <a:avLst/>
          </a:prstGeom>
          <a:solidFill>
            <a:srgbClr val="141414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66544" y="4754880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mio-server DB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749039" y="4709160"/>
            <a:ext cx="1554480" cy="594360"/>
          </a:xfrm>
          <a:prstGeom prst="roundRect">
            <a:avLst/>
          </a:prstGeom>
          <a:solidFill>
            <a:srgbClr val="141414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803903" y="4754880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mio-server DB
(需改造)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577840" y="4709160"/>
            <a:ext cx="1554480" cy="594360"/>
          </a:xfrm>
          <a:prstGeom prst="roundRect">
            <a:avLst/>
          </a:prstGeom>
          <a:solidFill>
            <a:srgbClr val="141414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32703" y="4754880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mio-server DB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406640" y="4709160"/>
            <a:ext cx="1554480" cy="594360"/>
          </a:xfrm>
          <a:prstGeom prst="roundRect">
            <a:avLst/>
          </a:prstGeom>
          <a:solidFill>
            <a:srgbClr val="141414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461504" y="4754880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mio-server DB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65760" y="5303520"/>
            <a:ext cx="1554480" cy="594360"/>
          </a:xfrm>
          <a:prstGeom prst="roundRect">
            <a:avLst/>
          </a:prstGeom>
          <a:solidFill>
            <a:srgbClr val="2D2D2D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20624" y="5349240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AFF00"/>
                </a:solidFill>
              </a:rPr>
              <a:t>APNs 通知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011680" y="5303520"/>
            <a:ext cx="1554480" cy="594360"/>
          </a:xfrm>
          <a:prstGeom prst="roundRect">
            <a:avLst/>
          </a:prstGeom>
          <a:solidFill>
            <a:srgbClr val="0F0F0F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66544" y="5349240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AFF8A"/>
                </a:solidFill>
              </a:rPr>
              <a:t>✓ 支持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749039" y="5303520"/>
            <a:ext cx="1554480" cy="594360"/>
          </a:xfrm>
          <a:prstGeom prst="roundRect">
            <a:avLst/>
          </a:prstGeom>
          <a:solidFill>
            <a:srgbClr val="0F0F0F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803903" y="5349240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需新增机制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577840" y="5303520"/>
            <a:ext cx="1554480" cy="594360"/>
          </a:xfrm>
          <a:prstGeom prst="roundRect">
            <a:avLst/>
          </a:prstGeom>
          <a:solidFill>
            <a:srgbClr val="0F0F0F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632703" y="5349240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AFF8A"/>
                </a:solidFill>
              </a:rPr>
              <a:t>✓ 支持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406640" y="5303520"/>
            <a:ext cx="1554480" cy="594360"/>
          </a:xfrm>
          <a:prstGeom prst="roundRect">
            <a:avLst/>
          </a:prstGeom>
          <a:solidFill>
            <a:srgbClr val="0F0F0F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461504" y="5349240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AFF8A"/>
                </a:solidFill>
              </a:rPr>
              <a:t>✓ 支持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65760" y="5897879"/>
            <a:ext cx="1554480" cy="594360"/>
          </a:xfrm>
          <a:prstGeom prst="roundRect">
            <a:avLst/>
          </a:prstGeom>
          <a:solidFill>
            <a:srgbClr val="2D2D2D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20624" y="5943599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AFF00"/>
                </a:solidFill>
              </a:rPr>
              <a:t>部署难度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011680" y="5897879"/>
            <a:ext cx="1554480" cy="594360"/>
          </a:xfrm>
          <a:prstGeom prst="roundRect">
            <a:avLst/>
          </a:prstGeom>
          <a:solidFill>
            <a:srgbClr val="141414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66544" y="5943599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AFF8A"/>
                </a:solidFill>
              </a:rPr>
              <a:t>★☆☆☆☆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749039" y="5897879"/>
            <a:ext cx="1554480" cy="594360"/>
          </a:xfrm>
          <a:prstGeom prst="roundRect">
            <a:avLst/>
          </a:prstGeom>
          <a:solidFill>
            <a:srgbClr val="141414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803903" y="5943599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AFF8A"/>
                </a:solidFill>
              </a:rPr>
              <a:t>★★★☆☆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577840" y="5897879"/>
            <a:ext cx="1554480" cy="594360"/>
          </a:xfrm>
          <a:prstGeom prst="roundRect">
            <a:avLst/>
          </a:prstGeom>
          <a:solidFill>
            <a:srgbClr val="141414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632703" y="5943599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4A4A"/>
                </a:solidFill>
              </a:rPr>
              <a:t>★★☆☆☆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406640" y="5897879"/>
            <a:ext cx="1554480" cy="594360"/>
          </a:xfrm>
          <a:prstGeom prst="roundRect">
            <a:avLst/>
          </a:prstGeom>
          <a:solidFill>
            <a:srgbClr val="141414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461504" y="5943599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AFF8A"/>
                </a:solidFill>
              </a:rPr>
              <a:t>★★★☆☆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65760" y="6492240"/>
            <a:ext cx="1554480" cy="594360"/>
          </a:xfrm>
          <a:prstGeom prst="roundRect">
            <a:avLst/>
          </a:prstGeom>
          <a:solidFill>
            <a:srgbClr val="2D2D2D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20624" y="6537959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AFF00"/>
                </a:solidFill>
              </a:rPr>
              <a:t>适合场景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011680" y="6492240"/>
            <a:ext cx="1554480" cy="594360"/>
          </a:xfrm>
          <a:prstGeom prst="roundRect">
            <a:avLst/>
          </a:prstGeom>
          <a:solidFill>
            <a:srgbClr val="0F0F0F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066544" y="6537959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日常开发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749039" y="6492240"/>
            <a:ext cx="1554480" cy="594360"/>
          </a:xfrm>
          <a:prstGeom prst="roundRect">
            <a:avLst/>
          </a:prstGeom>
          <a:solidFill>
            <a:srgbClr val="0F0F0F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803903" y="6537959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无 Mac 环境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577840" y="6492240"/>
            <a:ext cx="1554480" cy="594360"/>
          </a:xfrm>
          <a:prstGeom prst="roundRect">
            <a:avLst/>
          </a:prstGeom>
          <a:solidFill>
            <a:srgbClr val="0F0F0F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632703" y="6537959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远程开发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406640" y="6492240"/>
            <a:ext cx="1554480" cy="594360"/>
          </a:xfrm>
          <a:prstGeom prst="roundRect">
            <a:avLst/>
          </a:prstGeom>
          <a:solidFill>
            <a:srgbClr val="0F0F0F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461504" y="6537959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多机器协作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65760" y="6995160"/>
            <a:ext cx="8412480" cy="27432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65760" y="7059168"/>
            <a:ext cx="84124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</a:rPr>
              <a:t>现有架构 = 架构 0（已上线） · 架构 A/B/C = 待实现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06  Hook → mio-server 接入方案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8595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99999"/>
                </a:solidFill>
              </a:rPr>
              <a:t>把本地 CC hook 的数据打入 mio-server，有 3 种实现路径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2743200" cy="5029200"/>
          </a:xfrm>
          <a:prstGeom prst="roundRect">
            <a:avLst/>
          </a:prstGeom>
          <a:solidFill>
            <a:srgbClr val="0D0D0D"/>
          </a:solidFill>
          <a:ln>
            <a:solidFill>
              <a:srgbClr val="4A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743200" cy="457200"/>
          </a:xfrm>
          <a:prstGeom prst="rect">
            <a:avLst/>
          </a:prstGeom>
          <a:solidFill>
            <a:srgbClr val="4A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07008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</a:rPr>
              <a:t>方案 1：HTTP API 直推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2514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999999"/>
                </a:solidFill>
              </a:rPr>
              <a:t>• hook socket 改为 HTTP POST</a:t>
            </a:r>
          </a:p>
          <a:p>
            <a:pPr algn="l"/>
            <a:r>
              <a:rPr sz="950">
                <a:solidFill>
                  <a:srgbClr val="999999"/>
                </a:solidFill>
              </a:rPr>
              <a:t>• POST /v1/sessions/:id/messages</a:t>
            </a:r>
          </a:p>
          <a:p>
            <a:pPr algn="l"/>
            <a:r>
              <a:rPr sz="950">
                <a:solidFill>
                  <a:srgbClr val="999999"/>
                </a:solidFill>
              </a:rPr>
              <a:t>• 需要 auth token（deviceId JWT）</a:t>
            </a:r>
          </a:p>
          <a:p>
            <a:pPr algn="l"/>
            <a:r>
              <a:rPr sz="950">
                <a:solidFill>
                  <a:srgbClr val="999999"/>
                </a:solidFill>
              </a:rPr>
              <a:t>• 支持批推，消息去重（localId）</a:t>
            </a:r>
          </a:p>
          <a:p>
            <a:pPr algn="l"/>
            <a:r>
              <a:rPr b="1" sz="950">
                <a:solidFill>
                  <a:srgbClr val="4A9DFF"/>
                </a:solidFill>
              </a:rPr>
              <a:t>• 实现难度：★☆☆☆☆（最简单）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188720"/>
            <a:ext cx="2743200" cy="5029200"/>
          </a:xfrm>
          <a:prstGeom prst="roundRect">
            <a:avLst/>
          </a:prstGeom>
          <a:solidFill>
            <a:srgbClr val="0D0D0D"/>
          </a:solidFill>
          <a:ln>
            <a:solidFill>
              <a:srgbClr val="CA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188720"/>
            <a:ext cx="2743200" cy="457200"/>
          </a:xfrm>
          <a:prstGeom prst="rect">
            <a:avLst/>
          </a:prstGeom>
          <a:solidFill>
            <a:srgbClr val="C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207008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</a:rPr>
              <a:t>方案 2：Socket.io 客户端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79" y="1737360"/>
            <a:ext cx="2514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999999"/>
                </a:solidFill>
              </a:rPr>
              <a:t>• hook 实现 Socket.io Client</a:t>
            </a:r>
          </a:p>
          <a:p>
            <a:pPr algn="l"/>
            <a:r>
              <a:rPr sz="950">
                <a:solidFill>
                  <a:srgbClr val="999999"/>
                </a:solidFill>
              </a:rPr>
              <a:t>• 连接到 mio-server /v1/updates</a:t>
            </a:r>
          </a:p>
          <a:p>
            <a:pPr algn="l"/>
            <a:r>
              <a:rPr sz="950">
                <a:solidFill>
                  <a:srgbClr val="999999"/>
                </a:solidFill>
              </a:rPr>
              <a:t>• 实时性好，支持 ack</a:t>
            </a:r>
          </a:p>
          <a:p>
            <a:pPr algn="l"/>
            <a:r>
              <a:rPr sz="950">
                <a:solidFill>
                  <a:srgbClr val="999999"/>
                </a:solidFill>
              </a:rPr>
              <a:t>• 需要 WebSocket 支持（部分环境受限）</a:t>
            </a:r>
          </a:p>
          <a:p>
            <a:pPr algn="l"/>
            <a:r>
              <a:rPr b="1" sz="950">
                <a:solidFill>
                  <a:srgbClr val="CAFF00"/>
                </a:solidFill>
              </a:rPr>
              <a:t>• 实现难度：★★☆☆☆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188720"/>
            <a:ext cx="2743200" cy="5029200"/>
          </a:xfrm>
          <a:prstGeom prst="roundRect">
            <a:avLst/>
          </a:prstGeom>
          <a:solidFill>
            <a:srgbClr val="0D0D0D"/>
          </a:solidFill>
          <a:ln>
            <a:solidFill>
              <a:srgbClr val="FF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188720"/>
            <a:ext cx="2743200" cy="457200"/>
          </a:xfrm>
          <a:prstGeom prst="rect">
            <a:avLst/>
          </a:prstGeom>
          <a:solidFill>
            <a:srgbClr val="F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207008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</a:rPr>
              <a:t>方案 3：Webhook 中转站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737360"/>
            <a:ext cx="2514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999999"/>
                </a:solidFill>
              </a:rPr>
              <a:t>• 本地保留 hook socket</a:t>
            </a:r>
          </a:p>
          <a:p>
            <a:pPr algn="l"/>
            <a:r>
              <a:rPr sz="950">
                <a:solidFill>
                  <a:srgbClr val="999999"/>
                </a:solidFill>
              </a:rPr>
              <a:t>• MioIsland 转发到 mio-server</a:t>
            </a:r>
          </a:p>
          <a:p>
            <a:pPr algn="l"/>
            <a:r>
              <a:rPr sz="950">
                <a:solidFill>
                  <a:srgbClr val="999999"/>
                </a:solidFill>
              </a:rPr>
              <a:t>• 兼容现有架构，改动最小</a:t>
            </a:r>
          </a:p>
          <a:p>
            <a:pPr algn="l"/>
            <a:r>
              <a:rPr sz="950">
                <a:solidFill>
                  <a:srgbClr val="999999"/>
                </a:solidFill>
              </a:rPr>
              <a:t>• notch 需要在线（Mac 要开）</a:t>
            </a:r>
          </a:p>
          <a:p>
            <a:pPr algn="l"/>
            <a:r>
              <a:rPr b="1" sz="950">
                <a:solidFill>
                  <a:srgbClr val="FF4A4A"/>
                </a:solidFill>
              </a:rPr>
              <a:t>• 实现难度：★☆☆☆☆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6400800"/>
            <a:ext cx="8412480" cy="822960"/>
          </a:xfrm>
          <a:prstGeom prst="rect">
            <a:avLst/>
          </a:prstGeom>
          <a:solidFill>
            <a:srgbClr val="0A200A"/>
          </a:solidFill>
          <a:ln w="12700">
            <a:solidFill>
              <a:srgbClr val="CA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80467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CAFF00"/>
                </a:solidFill>
              </a:rPr>
              <a:t>推荐路径：先用方案 1（HTTP 直推）快速验证 → 再迁移到方案 2（Socket.io）提升实时性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812280"/>
            <a:ext cx="8046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</a:rPr>
              <a:t>mio-server 的 /v1/sessions/:id/messages 已支持 batch POST + localId 去重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82296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07  Session 生命周期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8595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99999"/>
                </a:solidFill>
              </a:rPr>
              <a:t>一条消息从 CC 产生到 iPhone 显示的完整路径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457200" cy="457200"/>
          </a:xfrm>
          <a:prstGeom prst="roundRect">
            <a:avLst/>
          </a:prstGeom>
          <a:solidFill>
            <a:srgbClr val="C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9786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143000"/>
            <a:ext cx="7680960" cy="713232"/>
          </a:xfrm>
          <a:prstGeom prst="roundRect">
            <a:avLst/>
          </a:prstGeom>
          <a:solidFill>
            <a:srgbClr val="0D0D0D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188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CC 执行命令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472184"/>
            <a:ext cx="74980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</a:rPr>
              <a:t>Claude Code 运行，产生 assistant / user / tool 消息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1645920"/>
            <a:ext cx="0" cy="320040"/>
          </a:xfrm>
          <a:prstGeom prst="line">
            <a:avLst/>
          </a:prstGeom>
          <a:ln w="1016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" y="1984248"/>
            <a:ext cx="457200" cy="457200"/>
          </a:xfrm>
          <a:prstGeom prst="roundRect">
            <a:avLst/>
          </a:prstGeom>
          <a:solidFill>
            <a:srgbClr val="4A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3911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1984248"/>
            <a:ext cx="7680960" cy="713232"/>
          </a:xfrm>
          <a:prstGeom prst="roundRect">
            <a:avLst/>
          </a:prstGeom>
          <a:solidFill>
            <a:srgbClr val="0D0D0D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02996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Hook 捕获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313432"/>
            <a:ext cx="74980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</a:rPr>
              <a:t>PreToolUse / PostToolUse / Stop hooks 读取 JSONL event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2487168"/>
            <a:ext cx="0" cy="320040"/>
          </a:xfrm>
          <a:prstGeom prst="line">
            <a:avLst/>
          </a:prstGeom>
          <a:ln w="1016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57200" y="2825496"/>
            <a:ext cx="457200" cy="457200"/>
          </a:xfrm>
          <a:prstGeom prst="roundRect">
            <a:avLst/>
          </a:prstGeom>
          <a:solidFill>
            <a:srgbClr val="C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8803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2825496"/>
            <a:ext cx="7680960" cy="713232"/>
          </a:xfrm>
          <a:prstGeom prst="roundRect">
            <a:avLst/>
          </a:prstGeom>
          <a:solidFill>
            <a:srgbClr val="0D0D0D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2871215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发送到 mio-server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154679"/>
            <a:ext cx="74980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</a:rPr>
              <a:t>HTTP POST /v1/sessions/:id/messages 或 Socket.io emit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3328415"/>
            <a:ext cx="0" cy="320041"/>
          </a:xfrm>
          <a:prstGeom prst="line">
            <a:avLst/>
          </a:prstGeom>
          <a:ln w="1016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57200" y="3666744"/>
            <a:ext cx="457200" cy="457200"/>
          </a:xfrm>
          <a:prstGeom prst="roundRect">
            <a:avLst/>
          </a:prstGeom>
          <a:solidFill>
            <a:srgbClr val="4A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21607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3666744"/>
            <a:ext cx="7680960" cy="713232"/>
          </a:xfrm>
          <a:prstGeom prst="roundRect">
            <a:avLst/>
          </a:prstGeom>
          <a:solidFill>
            <a:srgbClr val="0D0D0D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371246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Server 存储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3995928"/>
            <a:ext cx="74980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</a:rPr>
              <a:t>db.sessionMessage 表，seq 自增，localId 去重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5800" y="4169663"/>
            <a:ext cx="0" cy="320041"/>
          </a:xfrm>
          <a:prstGeom prst="line">
            <a:avLst/>
          </a:prstGeom>
          <a:ln w="1016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57200" y="4507992"/>
            <a:ext cx="457200" cy="457200"/>
          </a:xfrm>
          <a:prstGeom prst="roundRect">
            <a:avLst/>
          </a:prstGeom>
          <a:solidFill>
            <a:srgbClr val="C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562855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</a:rPr>
              <a:t>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" y="4507992"/>
            <a:ext cx="7680960" cy="713232"/>
          </a:xfrm>
          <a:prstGeom prst="roundRect">
            <a:avLst/>
          </a:prstGeom>
          <a:solidFill>
            <a:srgbClr val="0D0D0D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45537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Socket.io 广播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837176"/>
            <a:ext cx="74980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</a:rPr>
              <a:t>eventRouter.emitUpdate → 所有 linked devices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85800" y="5010912"/>
            <a:ext cx="0" cy="320040"/>
          </a:xfrm>
          <a:prstGeom prst="line">
            <a:avLst/>
          </a:prstGeom>
          <a:ln w="1016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57200" y="5349240"/>
            <a:ext cx="457200" cy="457200"/>
          </a:xfrm>
          <a:prstGeom prst="roundRect">
            <a:avLst/>
          </a:prstGeom>
          <a:solidFill>
            <a:srgbClr val="4A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40410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</a:rPr>
              <a:t>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5840" y="5349240"/>
            <a:ext cx="7680960" cy="713232"/>
          </a:xfrm>
          <a:prstGeom prst="roundRect">
            <a:avLst/>
          </a:prstGeom>
          <a:solidFill>
            <a:srgbClr val="0D0D0D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5394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iPhone 轮询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678424"/>
            <a:ext cx="74980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</a:rPr>
              <a:t>GET /v1/sessions/:id/messages?after_seq=N 获取新消息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85800" y="5852160"/>
            <a:ext cx="0" cy="320040"/>
          </a:xfrm>
          <a:prstGeom prst="line">
            <a:avLst/>
          </a:prstGeom>
          <a:ln w="1016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457200" y="6190488"/>
            <a:ext cx="457200" cy="457200"/>
          </a:xfrm>
          <a:prstGeom prst="roundRect">
            <a:avLst/>
          </a:prstGeom>
          <a:solidFill>
            <a:srgbClr val="C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2453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</a:rPr>
              <a:t>7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05840" y="6190488"/>
            <a:ext cx="7680960" cy="713232"/>
          </a:xfrm>
          <a:prstGeom prst="roundRect">
            <a:avLst/>
          </a:prstGeom>
          <a:solidFill>
            <a:srgbClr val="0D0D0D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97280" y="62362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iPhone 渲染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6519672"/>
            <a:ext cx="74980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</a:rPr>
              <a:t>CodeLight App 显示 session 列表 + 消息内容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82296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08  下一步行动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8595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99999"/>
                </a:solidFill>
              </a:rPr>
              <a:t>从零到一，渐进式实现 Server CC 模式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2011680" cy="5303520"/>
          </a:xfrm>
          <a:prstGeom prst="roundRect">
            <a:avLst/>
          </a:prstGeom>
          <a:solidFill>
            <a:srgbClr val="0D0D0D"/>
          </a:solidFill>
          <a:ln>
            <a:solidFill>
              <a:srgbClr val="CA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011680" cy="411480"/>
          </a:xfrm>
          <a:prstGeom prst="rect">
            <a:avLst/>
          </a:prstGeom>
          <a:solidFill>
            <a:srgbClr val="C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070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</a:rPr>
              <a:t>Phase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验证现有架构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187451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CAFF00"/>
                </a:solidFill>
              </a:rPr>
              <a:t>• Mac notch + mio-server 配对成功</a:t>
            </a:r>
          </a:p>
          <a:p>
            <a:pPr algn="l"/>
            <a:r>
              <a:rPr sz="850">
                <a:solidFill>
                  <a:srgbClr val="CAFF00"/>
                </a:solidFill>
              </a:rPr>
              <a:t>• iPhone 可以看到本地 CC session</a:t>
            </a:r>
          </a:p>
          <a:p>
            <a:pPr algn="l"/>
            <a:r>
              <a:rPr sz="850">
                <a:solidFill>
                  <a:srgbClr val="CAFF00"/>
                </a:solidFill>
              </a:rPr>
              <a:t>• APNs 通知正常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474720"/>
            <a:ext cx="1371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06060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1188720"/>
            <a:ext cx="2011680" cy="5303520"/>
          </a:xfrm>
          <a:prstGeom prst="roundRect">
            <a:avLst/>
          </a:prstGeom>
          <a:solidFill>
            <a:srgbClr val="0D0D0D"/>
          </a:solidFill>
          <a:ln>
            <a:solidFill>
              <a:srgbClr val="4A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14600" y="1188720"/>
            <a:ext cx="2011680" cy="411480"/>
          </a:xfrm>
          <a:prstGeom prst="rect">
            <a:avLst/>
          </a:prstGeom>
          <a:solidFill>
            <a:srgbClr val="4A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12070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</a:rPr>
              <a:t>Phase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1691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HTTP Hook 直推（最小MVP）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331720"/>
            <a:ext cx="187451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4A9DFF"/>
                </a:solidFill>
              </a:rPr>
              <a:t>• 改造 hook socket → HTTP POST</a:t>
            </a:r>
          </a:p>
          <a:p>
            <a:pPr algn="l"/>
            <a:r>
              <a:rPr sz="850">
                <a:solidFill>
                  <a:srgbClr val="4A9DFF"/>
                </a:solidFill>
              </a:rPr>
              <a:t>• POST /v1/sessions/:id/messages</a:t>
            </a:r>
          </a:p>
          <a:p>
            <a:pPr algn="l"/>
            <a:r>
              <a:rPr sz="850">
                <a:solidFill>
                  <a:srgbClr val="4A9DFF"/>
                </a:solidFill>
              </a:rPr>
              <a:t>• Server CC 机器持有 Mac deviceId JWT</a:t>
            </a:r>
          </a:p>
          <a:p>
            <a:pPr algn="l"/>
            <a:r>
              <a:rPr sz="850">
                <a:solidFill>
                  <a:srgbClr val="4A9DFF"/>
                </a:solidFill>
              </a:rPr>
              <a:t>• iPhone 轮询验证 session 出现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474720"/>
            <a:ext cx="1371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06060"/>
                </a:solidFill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1188720"/>
            <a:ext cx="2011680" cy="5303520"/>
          </a:xfrm>
          <a:prstGeom prst="roundRect">
            <a:avLst/>
          </a:prstGeom>
          <a:solidFill>
            <a:srgbClr val="0D0D0D"/>
          </a:solidFill>
          <a:ln>
            <a:solidFill>
              <a:srgbClr val="CA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3440" y="1188720"/>
            <a:ext cx="2011680" cy="411480"/>
          </a:xfrm>
          <a:prstGeom prst="rect">
            <a:avLst/>
          </a:prstGeom>
          <a:solidFill>
            <a:srgbClr val="C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12070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</a:rPr>
              <a:t>Phase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1691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Socket.io 实时推送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331720"/>
            <a:ext cx="187451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CAFF00"/>
                </a:solidFill>
              </a:rPr>
              <a:t>• 升级为 Socket.io 客户端</a:t>
            </a:r>
          </a:p>
          <a:p>
            <a:pPr algn="l"/>
            <a:r>
              <a:rPr sz="850">
                <a:solidFill>
                  <a:srgbClr val="CAFF00"/>
                </a:solidFill>
              </a:rPr>
              <a:t>• 支持 ack + 实时 phase 通知</a:t>
            </a:r>
          </a:p>
          <a:p>
            <a:pPr algn="l"/>
            <a:r>
              <a:rPr sz="850">
                <a:solidFill>
                  <a:srgbClr val="CAFF00"/>
                </a:solidFill>
              </a:rPr>
              <a:t>• 支持 APNs completion/approval 推送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74720"/>
            <a:ext cx="1371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06060"/>
                </a:solidFill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12280" y="1188720"/>
            <a:ext cx="2011680" cy="5303520"/>
          </a:xfrm>
          <a:prstGeom prst="roundRect">
            <a:avLst/>
          </a:prstGeom>
          <a:solidFill>
            <a:srgbClr val="0D0D0D"/>
          </a:solidFill>
          <a:ln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12280" y="1188720"/>
            <a:ext cx="2011680" cy="41148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12070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</a:rPr>
              <a:t>Phase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1691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独立 DeviceId 体系（可选）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2331720"/>
            <a:ext cx="187451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999999"/>
                </a:solidFill>
              </a:rPr>
              <a:t>• Server CC 拥有自己的 deviceId</a:t>
            </a:r>
          </a:p>
          <a:p>
            <a:pPr algn="l"/>
            <a:r>
              <a:rPr sz="850">
                <a:solidFill>
                  <a:srgbClr val="999999"/>
                </a:solidFill>
              </a:rPr>
              <a:t>• 新建 DeviceLink 表（server CC ↔ mio-server）</a:t>
            </a:r>
          </a:p>
          <a:p>
            <a:pPr algn="l"/>
            <a:r>
              <a:rPr sz="850">
                <a:solidFill>
                  <a:srgbClr val="999999"/>
                </a:solidFill>
              </a:rPr>
              <a:t>• iPhone 配对新增 'Server CC' 类型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6629400"/>
            <a:ext cx="8412480" cy="640080"/>
          </a:xfrm>
          <a:prstGeom prst="rect">
            <a:avLst/>
          </a:prstGeom>
          <a:solidFill>
            <a:srgbClr val="0A200A"/>
          </a:solidFill>
          <a:ln w="12700">
            <a:solidFill>
              <a:srgbClr val="CA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69340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FF00"/>
                </a:solidFill>
              </a:rPr>
              <a:t>关键前提：Server CC 机器需要持有有效的 Mac deviceId JWT（从已配对的 Mac 导出，或新建 deviceId）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